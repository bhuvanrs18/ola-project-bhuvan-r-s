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2" r:id="rId16"/>
    <p:sldId id="273" r:id="rId17"/>
    <p:sldId id="274" r:id="rId18"/>
    <p:sldId id="275" r:id="rId19"/>
    <p:sldId id="276" r:id="rId20"/>
    <p:sldId id="277" r:id="rId21"/>
  </p:sldIdLst>
  <p:sldSz cx="18288000" cy="10287000"/>
  <p:notesSz cx="6858000" cy="9144000"/>
  <p:embeddedFontLst>
    <p:embeddedFont>
      <p:font typeface="Poppins Bold" panose="020B0604020202020204" charset="0"/>
      <p:regular r:id="rId22"/>
    </p:embeddedFont>
    <p:embeddedFont>
      <p:font typeface="Times New Roman Bold" panose="02020803070505020304" pitchFamily="18"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11"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bhuvanrs18/Ola-Project-Bhuvan-R-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sp>
        <p:nvSpPr>
          <p:cNvPr id="3" name="Freeform 3"/>
          <p:cNvSpPr/>
          <p:nvPr/>
        </p:nvSpPr>
        <p:spPr>
          <a:xfrm rot="1184083">
            <a:off x="6921658" y="6179923"/>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3">
              <a:alphaModFix amt="19999"/>
            </a:blip>
            <a:stretch>
              <a:fillRect/>
            </a:stretch>
          </a:blipFill>
        </p:spPr>
      </p:sp>
      <p:grpSp>
        <p:nvGrpSpPr>
          <p:cNvPr id="4" name="Group 4"/>
          <p:cNvGrpSpPr/>
          <p:nvPr/>
        </p:nvGrpSpPr>
        <p:grpSpPr>
          <a:xfrm>
            <a:off x="1755803" y="389772"/>
            <a:ext cx="14937277" cy="1921649"/>
            <a:chOff x="0" y="0"/>
            <a:chExt cx="3934098" cy="506113"/>
          </a:xfrm>
        </p:grpSpPr>
        <p:sp>
          <p:nvSpPr>
            <p:cNvPr id="5" name="Freeform 5"/>
            <p:cNvSpPr/>
            <p:nvPr/>
          </p:nvSpPr>
          <p:spPr>
            <a:xfrm>
              <a:off x="0" y="0"/>
              <a:ext cx="3934098" cy="506113"/>
            </a:xfrm>
            <a:custGeom>
              <a:avLst/>
              <a:gdLst/>
              <a:ahLst/>
              <a:cxnLst/>
              <a:rect l="l" t="t" r="r" b="b"/>
              <a:pathLst>
                <a:path w="3934098" h="506113">
                  <a:moveTo>
                    <a:pt x="31616" y="0"/>
                  </a:moveTo>
                  <a:lnTo>
                    <a:pt x="3902482" y="0"/>
                  </a:lnTo>
                  <a:cubicBezTo>
                    <a:pt x="3910867" y="0"/>
                    <a:pt x="3918908" y="3331"/>
                    <a:pt x="3924838" y="9260"/>
                  </a:cubicBezTo>
                  <a:cubicBezTo>
                    <a:pt x="3930767" y="15189"/>
                    <a:pt x="3934098" y="23231"/>
                    <a:pt x="3934098" y="31616"/>
                  </a:cubicBezTo>
                  <a:lnTo>
                    <a:pt x="3934098" y="474497"/>
                  </a:lnTo>
                  <a:cubicBezTo>
                    <a:pt x="3934098" y="491958"/>
                    <a:pt x="3919943" y="506113"/>
                    <a:pt x="3902482" y="506113"/>
                  </a:cubicBezTo>
                  <a:lnTo>
                    <a:pt x="31616" y="506113"/>
                  </a:lnTo>
                  <a:cubicBezTo>
                    <a:pt x="14155" y="506113"/>
                    <a:pt x="0" y="491958"/>
                    <a:pt x="0" y="474497"/>
                  </a:cubicBezTo>
                  <a:lnTo>
                    <a:pt x="0" y="31616"/>
                  </a:lnTo>
                  <a:cubicBezTo>
                    <a:pt x="0" y="14155"/>
                    <a:pt x="14155" y="0"/>
                    <a:pt x="31616" y="0"/>
                  </a:cubicBezTo>
                  <a:close/>
                </a:path>
              </a:pathLst>
            </a:custGeom>
            <a:ln w="28575" cap="rnd">
              <a:gradFill>
                <a:gsLst>
                  <a:gs pos="0">
                    <a:srgbClr val="FF66C4">
                      <a:alpha val="100000"/>
                    </a:srgbClr>
                  </a:gs>
                  <a:gs pos="100000">
                    <a:srgbClr val="FFDE59">
                      <a:alpha val="100000"/>
                    </a:srgbClr>
                  </a:gs>
                </a:gsLst>
                <a:lin ang="0"/>
              </a:gradFill>
              <a:prstDash val="solid"/>
              <a:round/>
            </a:ln>
          </p:spPr>
        </p:sp>
        <p:sp>
          <p:nvSpPr>
            <p:cNvPr id="6" name="TextBox 6"/>
            <p:cNvSpPr txBox="1"/>
            <p:nvPr/>
          </p:nvSpPr>
          <p:spPr>
            <a:xfrm>
              <a:off x="0" y="28575"/>
              <a:ext cx="3934098" cy="477538"/>
            </a:xfrm>
            <a:prstGeom prst="rect">
              <a:avLst/>
            </a:prstGeom>
          </p:spPr>
          <p:txBody>
            <a:bodyPr lIns="50800" tIns="50800" rIns="50800" bIns="50800" rtlCol="0" anchor="ctr"/>
            <a:lstStyle/>
            <a:p>
              <a:pPr algn="ctr">
                <a:lnSpc>
                  <a:spcPts val="4016"/>
                </a:lnSpc>
              </a:pPr>
              <a:r>
                <a:rPr lang="en-US" sz="3899" b="1">
                  <a:solidFill>
                    <a:srgbClr val="FFFFFF"/>
                  </a:solidFill>
                  <a:latin typeface="Times New Roman Bold"/>
                  <a:ea typeface="Times New Roman Bold"/>
                  <a:cs typeface="Times New Roman Bold"/>
                  <a:sym typeface="Times New Roman Bold"/>
                </a:rPr>
                <a:t>JAWAHARLAL NEHRU NEW COLLEGE OF ENGINEERING</a:t>
              </a:r>
            </a:p>
            <a:p>
              <a:pPr algn="ctr">
                <a:lnSpc>
                  <a:spcPts val="4016"/>
                </a:lnSpc>
              </a:pPr>
              <a:r>
                <a:rPr lang="en-US" sz="3899" b="1">
                  <a:solidFill>
                    <a:srgbClr val="FFFFFF"/>
                  </a:solidFill>
                  <a:latin typeface="Times New Roman Bold"/>
                  <a:ea typeface="Times New Roman Bold"/>
                  <a:cs typeface="Times New Roman Bold"/>
                  <a:sym typeface="Times New Roman Bold"/>
                </a:rPr>
                <a:t> Department of Computer Science &amp; Engineering</a:t>
              </a:r>
            </a:p>
            <a:p>
              <a:pPr algn="ctr">
                <a:lnSpc>
                  <a:spcPts val="4016"/>
                </a:lnSpc>
              </a:pPr>
              <a:r>
                <a:rPr lang="en-US" sz="3899" b="1">
                  <a:solidFill>
                    <a:srgbClr val="FFFFFF"/>
                  </a:solidFill>
                  <a:latin typeface="Times New Roman Bold"/>
                  <a:ea typeface="Times New Roman Bold"/>
                  <a:cs typeface="Times New Roman Bold"/>
                  <a:sym typeface="Times New Roman Bold"/>
                </a:rPr>
                <a:t> Shivamogga – 577204</a:t>
              </a:r>
            </a:p>
          </p:txBody>
        </p:sp>
      </p:grpSp>
      <p:sp>
        <p:nvSpPr>
          <p:cNvPr id="7" name="TextBox 7"/>
          <p:cNvSpPr txBox="1"/>
          <p:nvPr/>
        </p:nvSpPr>
        <p:spPr>
          <a:xfrm>
            <a:off x="4045725" y="2874093"/>
            <a:ext cx="10614855" cy="515948"/>
          </a:xfrm>
          <a:prstGeom prst="rect">
            <a:avLst/>
          </a:prstGeom>
        </p:spPr>
        <p:txBody>
          <a:bodyPr lIns="0" tIns="0" rIns="0" bIns="0" rtlCol="0" anchor="t">
            <a:spAutoFit/>
          </a:bodyPr>
          <a:lstStyle/>
          <a:p>
            <a:pPr algn="ctr">
              <a:lnSpc>
                <a:spcPts val="3707"/>
              </a:lnSpc>
              <a:spcBef>
                <a:spcPct val="0"/>
              </a:spcBef>
            </a:pPr>
            <a:r>
              <a:rPr lang="en-US" sz="3599" b="1">
                <a:solidFill>
                  <a:srgbClr val="FFFFFF"/>
                </a:solidFill>
                <a:latin typeface="Times New Roman Bold"/>
                <a:ea typeface="Times New Roman Bold"/>
                <a:cs typeface="Times New Roman Bold"/>
                <a:sym typeface="Times New Roman Bold"/>
              </a:rPr>
              <a:t>Internship Organization : Rooman Technologies</a:t>
            </a:r>
          </a:p>
        </p:txBody>
      </p:sp>
      <p:sp>
        <p:nvSpPr>
          <p:cNvPr id="8" name="TextBox 8"/>
          <p:cNvSpPr txBox="1"/>
          <p:nvPr/>
        </p:nvSpPr>
        <p:spPr>
          <a:xfrm>
            <a:off x="6780696" y="3828191"/>
            <a:ext cx="4215259" cy="642060"/>
          </a:xfrm>
          <a:prstGeom prst="rect">
            <a:avLst/>
          </a:prstGeom>
        </p:spPr>
        <p:txBody>
          <a:bodyPr lIns="0" tIns="0" rIns="0" bIns="0" rtlCol="0" anchor="t">
            <a:spAutoFit/>
          </a:bodyPr>
          <a:lstStyle/>
          <a:p>
            <a:pPr algn="ctr">
              <a:lnSpc>
                <a:spcPts val="5039"/>
              </a:lnSpc>
              <a:spcBef>
                <a:spcPct val="0"/>
              </a:spcBef>
            </a:pPr>
            <a:r>
              <a:rPr lang="en-US" sz="3599" b="1">
                <a:solidFill>
                  <a:srgbClr val="FFFFFF"/>
                </a:solidFill>
                <a:latin typeface="Times New Roman Bold"/>
                <a:ea typeface="Times New Roman Bold"/>
                <a:cs typeface="Times New Roman Bold"/>
                <a:sym typeface="Times New Roman Bold"/>
              </a:rPr>
              <a:t>Data Analytics Intern</a:t>
            </a:r>
          </a:p>
        </p:txBody>
      </p:sp>
      <p:sp>
        <p:nvSpPr>
          <p:cNvPr id="9" name="TextBox 9"/>
          <p:cNvSpPr txBox="1"/>
          <p:nvPr/>
        </p:nvSpPr>
        <p:spPr>
          <a:xfrm>
            <a:off x="7825327" y="6265904"/>
            <a:ext cx="2744539" cy="910377"/>
          </a:xfrm>
          <a:prstGeom prst="rect">
            <a:avLst/>
          </a:prstGeom>
        </p:spPr>
        <p:txBody>
          <a:bodyPr lIns="0" tIns="0" rIns="0" bIns="0" rtlCol="0" anchor="t">
            <a:spAutoFit/>
          </a:bodyPr>
          <a:lstStyle/>
          <a:p>
            <a:pPr algn="ctr">
              <a:lnSpc>
                <a:spcPts val="3810"/>
              </a:lnSpc>
              <a:spcBef>
                <a:spcPct val="0"/>
              </a:spcBef>
            </a:pPr>
            <a:r>
              <a:rPr lang="en-US" sz="3699" b="1">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Presented by:</a:t>
            </a:r>
          </a:p>
          <a:p>
            <a:pPr algn="ctr">
              <a:lnSpc>
                <a:spcPts val="3089"/>
              </a:lnSpc>
              <a:spcBef>
                <a:spcPct val="0"/>
              </a:spcBef>
            </a:pPr>
            <a:r>
              <a:rPr lang="en-US" sz="2999">
                <a:gradFill>
                  <a:gsLst>
                    <a:gs pos="0">
                      <a:srgbClr val="CDFFD8">
                        <a:alpha val="100000"/>
                      </a:srgbClr>
                    </a:gs>
                    <a:gs pos="100000">
                      <a:srgbClr val="94B9FF">
                        <a:alpha val="100000"/>
                      </a:srgbClr>
                    </a:gs>
                  </a:gsLst>
                  <a:lin ang="0"/>
                </a:gradFill>
                <a:latin typeface="Times New Roman"/>
                <a:ea typeface="Times New Roman"/>
                <a:cs typeface="Times New Roman"/>
                <a:sym typeface="Times New Roman"/>
              </a:rPr>
              <a:t> </a:t>
            </a:r>
          </a:p>
        </p:txBody>
      </p:sp>
      <p:sp>
        <p:nvSpPr>
          <p:cNvPr id="10" name="TextBox 10"/>
          <p:cNvSpPr txBox="1"/>
          <p:nvPr/>
        </p:nvSpPr>
        <p:spPr>
          <a:xfrm>
            <a:off x="4782577" y="7383725"/>
            <a:ext cx="3042750" cy="1148461"/>
          </a:xfrm>
          <a:prstGeom prst="rect">
            <a:avLst/>
          </a:prstGeom>
        </p:spPr>
        <p:txBody>
          <a:bodyPr lIns="0" tIns="0" rIns="0" bIns="0" rtlCol="0" anchor="t">
            <a:spAutoFit/>
          </a:bodyPr>
          <a:lstStyle/>
          <a:p>
            <a:pPr algn="ctr">
              <a:lnSpc>
                <a:spcPts val="2986"/>
              </a:lnSpc>
              <a:spcBef>
                <a:spcPct val="0"/>
              </a:spcBef>
            </a:pPr>
            <a:endParaRPr dirty="0"/>
          </a:p>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 Bhuvan R S</a:t>
            </a:r>
          </a:p>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 </a:t>
            </a:r>
          </a:p>
        </p:txBody>
      </p:sp>
      <p:sp>
        <p:nvSpPr>
          <p:cNvPr id="11" name="TextBox 11"/>
          <p:cNvSpPr txBox="1"/>
          <p:nvPr/>
        </p:nvSpPr>
        <p:spPr>
          <a:xfrm>
            <a:off x="10569867" y="7755200"/>
            <a:ext cx="2097137" cy="384721"/>
          </a:xfrm>
          <a:prstGeom prst="rect">
            <a:avLst/>
          </a:prstGeom>
        </p:spPr>
        <p:txBody>
          <a:bodyPr lIns="0" tIns="0" rIns="0" bIns="0" rtlCol="0" anchor="t">
            <a:spAutoFit/>
          </a:bodyPr>
          <a:lstStyle/>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4JN22CS029</a:t>
            </a:r>
          </a:p>
        </p:txBody>
      </p:sp>
      <p:sp>
        <p:nvSpPr>
          <p:cNvPr id="12" name="TextBox 12"/>
          <p:cNvSpPr txBox="1"/>
          <p:nvPr/>
        </p:nvSpPr>
        <p:spPr>
          <a:xfrm>
            <a:off x="4045725" y="5073445"/>
            <a:ext cx="10889475" cy="1384995"/>
          </a:xfrm>
          <a:prstGeom prst="rect">
            <a:avLst/>
          </a:prstGeom>
        </p:spPr>
        <p:txBody>
          <a:bodyPr wrap="square" lIns="0" tIns="0" rIns="0" bIns="0" rtlCol="0" anchor="t">
            <a:spAutoFit/>
          </a:bodyPr>
          <a:lstStyle/>
          <a:p>
            <a:pPr algn="ctr">
              <a:lnSpc>
                <a:spcPts val="3639"/>
              </a:lnSpc>
              <a:spcBef>
                <a:spcPct val="0"/>
              </a:spcBef>
            </a:pPr>
            <a:r>
              <a:rPr lang="en-US" sz="3499" b="1" dirty="0">
                <a:solidFill>
                  <a:srgbClr val="FFFFFF"/>
                </a:solidFill>
                <a:latin typeface="Times New Roman Bold"/>
                <a:ea typeface="Times New Roman Bold"/>
                <a:cs typeface="Times New Roman Bold"/>
                <a:sym typeface="Times New Roman Bold"/>
              </a:rPr>
              <a:t> Data-Driven Insights into OLA Ride Bookings using Power BI </a:t>
            </a:r>
          </a:p>
          <a:p>
            <a:pPr algn="ctr">
              <a:lnSpc>
                <a:spcPts val="3639"/>
              </a:lnSpc>
              <a:spcBef>
                <a:spcPct val="0"/>
              </a:spcBef>
            </a:pPr>
            <a:endParaRPr lang="en-US" sz="3499" b="1" dirty="0">
              <a:solidFill>
                <a:srgbClr val="FFFFFF"/>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892117" y="853213"/>
            <a:ext cx="4774481" cy="707951"/>
          </a:xfrm>
          <a:prstGeom prst="rect">
            <a:avLst/>
          </a:prstGeom>
        </p:spPr>
        <p:txBody>
          <a:bodyPr lIns="0" tIns="0" rIns="0" bIns="0" rtlCol="0" anchor="t">
            <a:spAutoFit/>
          </a:bodyPr>
          <a:lstStyle/>
          <a:p>
            <a:pPr algn="ctr">
              <a:lnSpc>
                <a:spcPts val="5150"/>
              </a:lnSpc>
              <a:spcBef>
                <a:spcPct val="0"/>
              </a:spcBef>
            </a:pPr>
            <a:r>
              <a:rPr lang="en-US" sz="5000"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Table of Contents</a:t>
            </a:r>
          </a:p>
        </p:txBody>
      </p:sp>
      <p:sp>
        <p:nvSpPr>
          <p:cNvPr id="3" name="TextBox 3"/>
          <p:cNvSpPr txBox="1"/>
          <p:nvPr/>
        </p:nvSpPr>
        <p:spPr>
          <a:xfrm>
            <a:off x="990817" y="2175252"/>
            <a:ext cx="16577080" cy="5745163"/>
          </a:xfrm>
          <a:prstGeom prst="rect">
            <a:avLst/>
          </a:prstGeom>
        </p:spPr>
        <p:txBody>
          <a:bodyPr lIns="0" tIns="0" rIns="0" bIns="0" rtlCol="0" anchor="t">
            <a:spAutoFit/>
          </a:bodyPr>
          <a:lstStyle/>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Problem Statement</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Objectives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Dataset Overview</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Tech Stack</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Data Cleaning</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Analysis Process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Ola Insights through Visualization</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Visualization Insights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Ola Dashboard (Power BI)</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Results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Learning Outcomes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Project Link</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Next Steps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432786" y="1613173"/>
            <a:ext cx="5701605" cy="711199"/>
          </a:xfrm>
          <a:prstGeom prst="rect">
            <a:avLst/>
          </a:prstGeom>
        </p:spPr>
        <p:txBody>
          <a:bodyPr lIns="0" tIns="0" rIns="0" bIns="0" rtlCol="0" anchor="t">
            <a:spAutoFit/>
          </a:bodyPr>
          <a:lstStyle/>
          <a:p>
            <a:pPr algn="ctr">
              <a:lnSpc>
                <a:spcPts val="51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1.Problem Statement</a:t>
            </a:r>
          </a:p>
        </p:txBody>
      </p:sp>
      <p:sp>
        <p:nvSpPr>
          <p:cNvPr id="3" name="TextBox 3"/>
          <p:cNvSpPr txBox="1"/>
          <p:nvPr/>
        </p:nvSpPr>
        <p:spPr>
          <a:xfrm>
            <a:off x="2144572" y="3464311"/>
            <a:ext cx="14278034" cy="4501232"/>
          </a:xfrm>
          <a:prstGeom prst="rect">
            <a:avLst/>
          </a:prstGeom>
        </p:spPr>
        <p:txBody>
          <a:bodyPr lIns="0" tIns="0" rIns="0" bIns="0" rtlCol="0" anchor="t">
            <a:spAutoFit/>
          </a:bodyPr>
          <a:lstStyle/>
          <a:p>
            <a:pPr algn="just">
              <a:lnSpc>
                <a:spcPts val="3925"/>
              </a:lnSpc>
              <a:spcBef>
                <a:spcPct val="0"/>
              </a:spcBef>
            </a:pPr>
            <a:r>
              <a:rPr lang="en-US" sz="3774" dirty="0">
                <a:solidFill>
                  <a:srgbClr val="FFFFFF"/>
                </a:solidFill>
                <a:latin typeface="Times New Roman"/>
                <a:ea typeface="Times New Roman"/>
                <a:cs typeface="Times New Roman"/>
                <a:sym typeface="Times New Roman"/>
              </a:rPr>
              <a:t>In ride-booking platforms like OLA, massive volumes of trip data are generated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daily. However, extracting meaningful insights from this data is challenging.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Traditional reports fail to highlight: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Peak booking hours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Revenue patterns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Ride cancellations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Demand-supply imbalance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620000" y="904875"/>
            <a:ext cx="3370755"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2.Objectives</a:t>
            </a:r>
          </a:p>
        </p:txBody>
      </p:sp>
      <p:sp>
        <p:nvSpPr>
          <p:cNvPr id="3" name="TextBox 3"/>
          <p:cNvSpPr txBox="1"/>
          <p:nvPr/>
        </p:nvSpPr>
        <p:spPr>
          <a:xfrm>
            <a:off x="2133600" y="1972205"/>
            <a:ext cx="14818816" cy="8120877"/>
          </a:xfrm>
          <a:prstGeom prst="rect">
            <a:avLst/>
          </a:prstGeom>
        </p:spPr>
        <p:txBody>
          <a:bodyPr lIns="0" tIns="0" rIns="0" bIns="0" rtlCol="0" anchor="t">
            <a:spAutoFit/>
          </a:bodyPr>
          <a:lstStyle/>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This project focuses on analyzing OLA ride booking data to extract actionable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insights related to: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Ride demand patterns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Revenue generation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Customer behavior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Ride status distribution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The goal is to transform raw booking data into meaningful insights using data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analytics and visualization techniques, enabling better operational and strategic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172200" y="1184107"/>
            <a:ext cx="5616550"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3.Dataset Overview</a:t>
            </a:r>
          </a:p>
        </p:txBody>
      </p:sp>
      <p:sp>
        <p:nvSpPr>
          <p:cNvPr id="3" name="TextBox 3"/>
          <p:cNvSpPr txBox="1"/>
          <p:nvPr/>
        </p:nvSpPr>
        <p:spPr>
          <a:xfrm>
            <a:off x="2482360" y="3160179"/>
            <a:ext cx="13424584" cy="3972819"/>
          </a:xfrm>
          <a:prstGeom prst="rect">
            <a:avLst/>
          </a:prstGeom>
        </p:spPr>
        <p:txBody>
          <a:bodyPr lIns="0" tIns="0" rIns="0" bIns="0" rtlCol="0" anchor="t">
            <a:spAutoFit/>
          </a:bodyPr>
          <a:lstStyle/>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Ride demand and booking trends</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Revenue and payment analysis</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Customer and driver behavior </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Ride cancellations and booking status distribution</a:t>
            </a:r>
          </a:p>
          <a:p>
            <a:pPr marL="485626" lvl="1" algn="l">
              <a:lnSpc>
                <a:spcPts val="6298"/>
              </a:lnSpc>
            </a:pPr>
            <a:r>
              <a:rPr lang="en-US" sz="4498" dirty="0">
                <a:solidFill>
                  <a:srgbClr val="FFFFFF"/>
                </a:solidFill>
                <a:latin typeface="Times New Roman"/>
                <a:ea typeface="Times New Roman"/>
                <a:cs typeface="Times New Roman"/>
                <a:sym typeface="Times New Roman"/>
              </a:rPr>
              <a:t>• Vehicle performance and ride efficiency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781801" y="1078829"/>
            <a:ext cx="3943798"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4.Tech Stack</a:t>
            </a:r>
          </a:p>
        </p:txBody>
      </p:sp>
      <p:sp>
        <p:nvSpPr>
          <p:cNvPr id="3" name="TextBox 3"/>
          <p:cNvSpPr txBox="1"/>
          <p:nvPr/>
        </p:nvSpPr>
        <p:spPr>
          <a:xfrm>
            <a:off x="1371600" y="3467100"/>
            <a:ext cx="13119497" cy="3889206"/>
          </a:xfrm>
          <a:prstGeom prst="rect">
            <a:avLst/>
          </a:prstGeom>
        </p:spPr>
        <p:txBody>
          <a:bodyPr wrap="square" lIns="0" tIns="0" rIns="0" bIns="0" rtlCol="0" anchor="t">
            <a:spAutoFit/>
          </a:bodyPr>
          <a:lstStyle/>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Python (</a:t>
            </a:r>
            <a:r>
              <a:rPr lang="en-US" sz="4342" dirty="0" err="1">
                <a:solidFill>
                  <a:srgbClr val="FFFFFF"/>
                </a:solidFill>
                <a:latin typeface="Times New Roman"/>
                <a:ea typeface="Times New Roman"/>
                <a:cs typeface="Times New Roman"/>
                <a:sym typeface="Times New Roman"/>
              </a:rPr>
              <a:t>Jupyter</a:t>
            </a:r>
            <a:r>
              <a:rPr lang="en-US" sz="4342" dirty="0">
                <a:solidFill>
                  <a:srgbClr val="FFFFFF"/>
                </a:solidFill>
                <a:latin typeface="Times New Roman"/>
                <a:ea typeface="Times New Roman"/>
                <a:cs typeface="Times New Roman"/>
                <a:sym typeface="Times New Roman"/>
              </a:rPr>
              <a:t> Notebook) – Data analysis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Pandas, NumPy – Data cleaning &amp; processing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Matplotlib, Seaborn – Data visualization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 Power BI – Interactive dashboard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4375" y="1169067"/>
            <a:ext cx="4374207" cy="882652"/>
          </a:xfrm>
          <a:prstGeom prst="rect">
            <a:avLst/>
          </a:prstGeom>
        </p:spPr>
        <p:txBody>
          <a:bodyPr lIns="0" tIns="0" rIns="0" bIns="0" rtlCol="0" anchor="t">
            <a:spAutoFit/>
          </a:bodyPr>
          <a:lstStyle/>
          <a:p>
            <a:pPr algn="ctr">
              <a:lnSpc>
                <a:spcPts val="69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5.Data Cleaning</a:t>
            </a:r>
          </a:p>
        </p:txBody>
      </p:sp>
      <p:sp>
        <p:nvSpPr>
          <p:cNvPr id="3" name="TextBox 3"/>
          <p:cNvSpPr txBox="1"/>
          <p:nvPr/>
        </p:nvSpPr>
        <p:spPr>
          <a:xfrm>
            <a:off x="827716" y="3235377"/>
            <a:ext cx="11642395" cy="3342378"/>
          </a:xfrm>
          <a:prstGeom prst="rect">
            <a:avLst/>
          </a:prstGeom>
        </p:spPr>
        <p:txBody>
          <a:bodyPr lIns="0" tIns="0" rIns="0" bIns="0" rtlCol="0" anchor="t">
            <a:spAutoFit/>
          </a:bodyPr>
          <a:lstStyle/>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Converted Order Date column into datetime format</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Verified dataset structure (shape, columns, data types)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Checked for missing (null) values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Removed duplicate records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Prepared dataset for analysis</a:t>
            </a:r>
          </a:p>
        </p:txBody>
      </p:sp>
      <p:grpSp>
        <p:nvGrpSpPr>
          <p:cNvPr id="4" name="Group 4"/>
          <p:cNvGrpSpPr/>
          <p:nvPr/>
        </p:nvGrpSpPr>
        <p:grpSpPr>
          <a:xfrm>
            <a:off x="12318720" y="4041671"/>
            <a:ext cx="4940580" cy="2536085"/>
            <a:chOff x="0" y="0"/>
            <a:chExt cx="957089" cy="491290"/>
          </a:xfrm>
        </p:grpSpPr>
        <p:sp>
          <p:nvSpPr>
            <p:cNvPr id="5" name="Freeform 5"/>
            <p:cNvSpPr/>
            <p:nvPr/>
          </p:nvSpPr>
          <p:spPr>
            <a:xfrm>
              <a:off x="0" y="0"/>
              <a:ext cx="957089" cy="491290"/>
            </a:xfrm>
            <a:custGeom>
              <a:avLst/>
              <a:gdLst/>
              <a:ahLst/>
              <a:cxnLst/>
              <a:rect l="l" t="t" r="r" b="b"/>
              <a:pathLst>
                <a:path w="957089" h="491290">
                  <a:moveTo>
                    <a:pt x="36041" y="0"/>
                  </a:moveTo>
                  <a:lnTo>
                    <a:pt x="921048" y="0"/>
                  </a:lnTo>
                  <a:cubicBezTo>
                    <a:pt x="930606" y="0"/>
                    <a:pt x="939774" y="3797"/>
                    <a:pt x="946533" y="10556"/>
                  </a:cubicBezTo>
                  <a:cubicBezTo>
                    <a:pt x="953292" y="17315"/>
                    <a:pt x="957089" y="26482"/>
                    <a:pt x="957089" y="36041"/>
                  </a:cubicBezTo>
                  <a:lnTo>
                    <a:pt x="957089" y="455249"/>
                  </a:lnTo>
                  <a:cubicBezTo>
                    <a:pt x="957089" y="475154"/>
                    <a:pt x="940953" y="491290"/>
                    <a:pt x="921048" y="491290"/>
                  </a:cubicBezTo>
                  <a:lnTo>
                    <a:pt x="36041" y="491290"/>
                  </a:lnTo>
                  <a:cubicBezTo>
                    <a:pt x="26482" y="491290"/>
                    <a:pt x="17315" y="487493"/>
                    <a:pt x="10556" y="480734"/>
                  </a:cubicBezTo>
                  <a:cubicBezTo>
                    <a:pt x="3797" y="473975"/>
                    <a:pt x="0" y="464808"/>
                    <a:pt x="0" y="455249"/>
                  </a:cubicBezTo>
                  <a:lnTo>
                    <a:pt x="0" y="36041"/>
                  </a:lnTo>
                  <a:cubicBezTo>
                    <a:pt x="0" y="26482"/>
                    <a:pt x="3797" y="17315"/>
                    <a:pt x="10556" y="10556"/>
                  </a:cubicBezTo>
                  <a:cubicBezTo>
                    <a:pt x="17315" y="3797"/>
                    <a:pt x="26482" y="0"/>
                    <a:pt x="36041" y="0"/>
                  </a:cubicBezTo>
                  <a:close/>
                </a:path>
              </a:pathLst>
            </a:custGeom>
            <a:blipFill>
              <a:blip r:embed="rId2"/>
              <a:stretch>
                <a:fillRect t="-7591" b="-7591"/>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2998" y="1289384"/>
            <a:ext cx="4962004" cy="882652"/>
          </a:xfrm>
          <a:prstGeom prst="rect">
            <a:avLst/>
          </a:prstGeom>
        </p:spPr>
        <p:txBody>
          <a:bodyPr lIns="0" tIns="0" rIns="0" bIns="0" rtlCol="0" anchor="t">
            <a:spAutoFit/>
          </a:bodyPr>
          <a:lstStyle/>
          <a:p>
            <a:pPr algn="ctr">
              <a:lnSpc>
                <a:spcPts val="69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6.Analysis Process</a:t>
            </a:r>
          </a:p>
        </p:txBody>
      </p:sp>
      <p:sp>
        <p:nvSpPr>
          <p:cNvPr id="3" name="TextBox 3"/>
          <p:cNvSpPr txBox="1"/>
          <p:nvPr/>
        </p:nvSpPr>
        <p:spPr>
          <a:xfrm>
            <a:off x="1028700" y="3279208"/>
            <a:ext cx="11736958" cy="4967707"/>
          </a:xfrm>
          <a:prstGeom prst="rect">
            <a:avLst/>
          </a:prstGeom>
        </p:spPr>
        <p:txBody>
          <a:bodyPr lIns="0" tIns="0" rIns="0" bIns="0" rtlCol="0" anchor="t">
            <a:spAutoFit/>
          </a:bodyPr>
          <a:lstStyle/>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Performed Exploratory Data Analysis (EDA)</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Analyzed sales and profit distribution</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Compared performance across regions and categories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Studied time-based sales trends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Identified top products and key contributors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Analyzed relationship between discount and profit</a:t>
            </a:r>
          </a:p>
        </p:txBody>
      </p:sp>
      <p:grpSp>
        <p:nvGrpSpPr>
          <p:cNvPr id="4" name="Group 4"/>
          <p:cNvGrpSpPr/>
          <p:nvPr/>
        </p:nvGrpSpPr>
        <p:grpSpPr>
          <a:xfrm>
            <a:off x="13068766" y="3464696"/>
            <a:ext cx="4715784" cy="4127055"/>
            <a:chOff x="0" y="0"/>
            <a:chExt cx="1100078" cy="962742"/>
          </a:xfrm>
        </p:grpSpPr>
        <p:sp>
          <p:nvSpPr>
            <p:cNvPr id="5" name="Freeform 5"/>
            <p:cNvSpPr/>
            <p:nvPr/>
          </p:nvSpPr>
          <p:spPr>
            <a:xfrm>
              <a:off x="0" y="0"/>
              <a:ext cx="1100078" cy="962742"/>
            </a:xfrm>
            <a:custGeom>
              <a:avLst/>
              <a:gdLst/>
              <a:ahLst/>
              <a:cxnLst/>
              <a:rect l="l" t="t" r="r" b="b"/>
              <a:pathLst>
                <a:path w="1100078" h="962742">
                  <a:moveTo>
                    <a:pt x="37759" y="0"/>
                  </a:moveTo>
                  <a:lnTo>
                    <a:pt x="1062319" y="0"/>
                  </a:lnTo>
                  <a:cubicBezTo>
                    <a:pt x="1072333" y="0"/>
                    <a:pt x="1081938" y="3978"/>
                    <a:pt x="1089019" y="11059"/>
                  </a:cubicBezTo>
                  <a:cubicBezTo>
                    <a:pt x="1096100" y="18141"/>
                    <a:pt x="1100078" y="27745"/>
                    <a:pt x="1100078" y="37759"/>
                  </a:cubicBezTo>
                  <a:lnTo>
                    <a:pt x="1100078" y="924983"/>
                  </a:lnTo>
                  <a:cubicBezTo>
                    <a:pt x="1100078" y="934997"/>
                    <a:pt x="1096100" y="944601"/>
                    <a:pt x="1089019" y="951683"/>
                  </a:cubicBezTo>
                  <a:cubicBezTo>
                    <a:pt x="1081938" y="958764"/>
                    <a:pt x="1072333" y="962742"/>
                    <a:pt x="1062319" y="962742"/>
                  </a:cubicBezTo>
                  <a:lnTo>
                    <a:pt x="37759" y="962742"/>
                  </a:lnTo>
                  <a:cubicBezTo>
                    <a:pt x="27745" y="962742"/>
                    <a:pt x="18141" y="958764"/>
                    <a:pt x="11059" y="951683"/>
                  </a:cubicBezTo>
                  <a:cubicBezTo>
                    <a:pt x="3978" y="944601"/>
                    <a:pt x="0" y="934997"/>
                    <a:pt x="0" y="924983"/>
                  </a:cubicBezTo>
                  <a:lnTo>
                    <a:pt x="0" y="37759"/>
                  </a:lnTo>
                  <a:cubicBezTo>
                    <a:pt x="0" y="27745"/>
                    <a:pt x="3978" y="18141"/>
                    <a:pt x="11059" y="11059"/>
                  </a:cubicBezTo>
                  <a:cubicBezTo>
                    <a:pt x="18141" y="3978"/>
                    <a:pt x="27745" y="0"/>
                    <a:pt x="37759" y="0"/>
                  </a:cubicBezTo>
                  <a:close/>
                </a:path>
              </a:pathLst>
            </a:custGeom>
            <a:blipFill>
              <a:blip r:embed="rId2"/>
              <a:stretch>
                <a:fillRect l="-15554" r="-15554"/>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4"/>
          <p:cNvSpPr txBox="1"/>
          <p:nvPr/>
        </p:nvSpPr>
        <p:spPr>
          <a:xfrm>
            <a:off x="3736855" y="805146"/>
            <a:ext cx="11385798" cy="823559"/>
          </a:xfrm>
          <a:prstGeom prst="rect">
            <a:avLst/>
          </a:prstGeom>
        </p:spPr>
        <p:txBody>
          <a:bodyPr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7.Ola Insights through Visualizations</a:t>
            </a:r>
          </a:p>
        </p:txBody>
      </p:sp>
      <p:pic>
        <p:nvPicPr>
          <p:cNvPr id="6" name="Picture 5">
            <a:extLst>
              <a:ext uri="{FF2B5EF4-FFF2-40B4-BE49-F238E27FC236}">
                <a16:creationId xmlns:a16="http://schemas.microsoft.com/office/drawing/2014/main" id="{4C22E4AB-3AD4-C325-D525-5AD788629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476500"/>
            <a:ext cx="7544853" cy="5820587"/>
          </a:xfrm>
          <a:prstGeom prst="rect">
            <a:avLst/>
          </a:prstGeom>
        </p:spPr>
      </p:pic>
      <p:pic>
        <p:nvPicPr>
          <p:cNvPr id="8" name="Picture 7">
            <a:extLst>
              <a:ext uri="{FF2B5EF4-FFF2-40B4-BE49-F238E27FC236}">
                <a16:creationId xmlns:a16="http://schemas.microsoft.com/office/drawing/2014/main" id="{5D739D81-CFDB-C777-DF0E-1A1350AC7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9400" y="2476501"/>
            <a:ext cx="6781800" cy="58205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3289924" y="266700"/>
            <a:ext cx="10167036"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Ola Insights through Visualizations</a:t>
            </a:r>
          </a:p>
        </p:txBody>
      </p:sp>
      <p:pic>
        <p:nvPicPr>
          <p:cNvPr id="8" name="Picture 7">
            <a:extLst>
              <a:ext uri="{FF2B5EF4-FFF2-40B4-BE49-F238E27FC236}">
                <a16:creationId xmlns:a16="http://schemas.microsoft.com/office/drawing/2014/main" id="{D457B9E5-2476-1CBA-94C3-DA38D8ECF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790232"/>
            <a:ext cx="6925642" cy="67065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257800" y="419100"/>
            <a:ext cx="7208714"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8.Visualization Insights</a:t>
            </a:r>
          </a:p>
        </p:txBody>
      </p:sp>
      <p:sp>
        <p:nvSpPr>
          <p:cNvPr id="3" name="TextBox 3"/>
          <p:cNvSpPr txBox="1"/>
          <p:nvPr/>
        </p:nvSpPr>
        <p:spPr>
          <a:xfrm>
            <a:off x="1600200" y="1866900"/>
            <a:ext cx="15424461" cy="8226804"/>
          </a:xfrm>
          <a:prstGeom prst="rect">
            <a:avLst/>
          </a:prstGeom>
        </p:spPr>
        <p:txBody>
          <a:bodyPr lIns="0" tIns="0" rIns="0" bIns="0" rtlCol="0" anchor="t">
            <a:spAutoFit/>
          </a:bodyPr>
          <a:lstStyle/>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 Revenue by Day: Monday, Tuesday, and Wednesday generate the highest revenue, while Sunday records the lowest revenue.</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Booking Status Distribution: Most rides are successfully completed, while cancellations by drivers are higher than customer cancellations.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Bookings by Hour: Booking demand fluctuates throughout the day, with peak bookings around afternoon and evening hours.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Weekly Revenue Trend: Revenue is stronger during weekdays compared to weekends.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Ride Cancellation Analysis: Driver cancellations contribute significantly to overall failed bookings.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Customer Demand Pattern: Ride demand remains consistent across most hours with slight peaks during busy travel times.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Operational Insight: Higher successful bookings indicate efficient ride management and service availability.</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Business Performance Insight: Stable booking volume and revenue trends reflect consistent customer usage of OLA services.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3301752" y="1166098"/>
            <a:ext cx="11684496" cy="823559"/>
          </a:xfrm>
          <a:prstGeom prst="rect">
            <a:avLst/>
          </a:prstGeom>
        </p:spPr>
        <p:txBody>
          <a:bodyPr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9.Ola Insights Dashboard (Power BI)</a:t>
            </a:r>
          </a:p>
        </p:txBody>
      </p:sp>
      <p:sp>
        <p:nvSpPr>
          <p:cNvPr id="4" name="TextBox 4"/>
          <p:cNvSpPr txBox="1"/>
          <p:nvPr/>
        </p:nvSpPr>
        <p:spPr>
          <a:xfrm>
            <a:off x="767023" y="2826861"/>
            <a:ext cx="17063777" cy="3857851"/>
          </a:xfrm>
          <a:prstGeom prst="rect">
            <a:avLst/>
          </a:prstGeom>
        </p:spPr>
        <p:txBody>
          <a:bodyPr wrap="square" lIns="0" tIns="0" rIns="0" bIns="0" rtlCol="0" anchor="t">
            <a:spAutoFit/>
          </a:bodyPr>
          <a:lstStyle/>
          <a:p>
            <a:pPr marL="582925" lvl="1" indent="-291463" algn="just">
              <a:lnSpc>
                <a:spcPts val="3779"/>
              </a:lnSpc>
              <a:buFont typeface="Arial"/>
              <a:buChar char="•"/>
            </a:pPr>
            <a:r>
              <a:rPr lang="en-US" sz="2699" b="1" dirty="0">
                <a:solidFill>
                  <a:srgbClr val="FFFFFF"/>
                </a:solidFill>
                <a:latin typeface="Times New Roman Bold"/>
                <a:ea typeface="Times New Roman Bold"/>
                <a:cs typeface="Times New Roman Bold"/>
                <a:sym typeface="Times New Roman Bold"/>
              </a:rPr>
              <a:t>The Power BI dashboard provides an interactive overview of OLA ride booking performance using key metrics such as total bookings, booking value, successful rides, cancellations, and customer ratings. It includes visualizations for booking trends, vehicle-type performance, payment method analysis, cancellation reasons, ride volume over time, and customer behavior insights.</a:t>
            </a:r>
          </a:p>
          <a:p>
            <a:pPr marL="582925" lvl="1" indent="-291463" algn="just">
              <a:lnSpc>
                <a:spcPts val="3779"/>
              </a:lnSpc>
              <a:buFont typeface="Arial"/>
              <a:buChar char="•"/>
            </a:pPr>
            <a:endParaRPr lang="en-US" sz="2699" b="1" dirty="0">
              <a:solidFill>
                <a:srgbClr val="FFFFFF"/>
              </a:solidFill>
              <a:latin typeface="Times New Roman Bold"/>
              <a:ea typeface="Times New Roman Bold"/>
              <a:cs typeface="Times New Roman Bold"/>
              <a:sym typeface="Times New Roman Bold"/>
            </a:endParaRPr>
          </a:p>
          <a:p>
            <a:pPr marL="582925" lvl="1" indent="-291463" algn="just">
              <a:lnSpc>
                <a:spcPts val="3779"/>
              </a:lnSpc>
              <a:buFont typeface="Arial"/>
              <a:buChar char="•"/>
            </a:pPr>
            <a:r>
              <a:rPr lang="en-US" sz="2699" b="1" dirty="0">
                <a:solidFill>
                  <a:srgbClr val="FFFFFF"/>
                </a:solidFill>
                <a:latin typeface="Times New Roman Bold"/>
                <a:ea typeface="Times New Roman Bold"/>
                <a:cs typeface="Times New Roman Bold"/>
                <a:sym typeface="Times New Roman Bold"/>
              </a:rPr>
              <a:t>The dashboard also includes filters for date-wise analysis, allowing users to explore ride data dynamically across different vehicle types and booking statuses. This helps in identifying booking patterns, monitoring operational performance, analyzing customer satisfaction, and making data-driven business decisions.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98746DC-4A49-DF48-7E4F-E72FABD27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5074"/>
            <a:ext cx="8458200" cy="4569826"/>
          </a:xfrm>
          <a:prstGeom prst="rect">
            <a:avLst/>
          </a:prstGeom>
        </p:spPr>
      </p:pic>
      <p:pic>
        <p:nvPicPr>
          <p:cNvPr id="14" name="Picture 13">
            <a:extLst>
              <a:ext uri="{FF2B5EF4-FFF2-40B4-BE49-F238E27FC236}">
                <a16:creationId xmlns:a16="http://schemas.microsoft.com/office/drawing/2014/main" id="{5A4880E5-EDD4-0DEA-459F-33E4F1E3E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6400" y="345075"/>
            <a:ext cx="8458200" cy="4569826"/>
          </a:xfrm>
          <a:prstGeom prst="rect">
            <a:avLst/>
          </a:prstGeom>
        </p:spPr>
      </p:pic>
      <p:pic>
        <p:nvPicPr>
          <p:cNvPr id="16" name="Picture 15">
            <a:extLst>
              <a:ext uri="{FF2B5EF4-FFF2-40B4-BE49-F238E27FC236}">
                <a16:creationId xmlns:a16="http://schemas.microsoft.com/office/drawing/2014/main" id="{A1E38B54-FA6C-C7E7-1837-F4D1F48E47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4800" y="5143500"/>
            <a:ext cx="9829800" cy="4876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016551-160B-6A6A-711A-5F6C5B37D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152232"/>
            <a:ext cx="8839200" cy="5982535"/>
          </a:xfrm>
          <a:prstGeom prst="rect">
            <a:avLst/>
          </a:prstGeom>
        </p:spPr>
      </p:pic>
      <p:pic>
        <p:nvPicPr>
          <p:cNvPr id="11" name="Picture 10">
            <a:extLst>
              <a:ext uri="{FF2B5EF4-FFF2-40B4-BE49-F238E27FC236}">
                <a16:creationId xmlns:a16="http://schemas.microsoft.com/office/drawing/2014/main" id="{1EDB04AE-4338-2D3D-9435-AC1825D85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00" y="2152232"/>
            <a:ext cx="8534400" cy="59825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162800" y="1043341"/>
            <a:ext cx="3365859"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10.Results</a:t>
            </a:r>
          </a:p>
        </p:txBody>
      </p:sp>
      <p:sp>
        <p:nvSpPr>
          <p:cNvPr id="3" name="TextBox 3"/>
          <p:cNvSpPr txBox="1"/>
          <p:nvPr/>
        </p:nvSpPr>
        <p:spPr>
          <a:xfrm>
            <a:off x="1804760" y="2612378"/>
            <a:ext cx="14407766" cy="6572505"/>
          </a:xfrm>
          <a:prstGeom prst="rect">
            <a:avLst/>
          </a:prstGeom>
        </p:spPr>
        <p:txBody>
          <a:bodyPr lIns="0" tIns="0" rIns="0" bIns="0" rtlCol="0" anchor="t">
            <a:spAutoFit/>
          </a:bodyPr>
          <a:lstStyle/>
          <a:p>
            <a:pPr marL="669286" lvl="1" indent="-334643" algn="just">
              <a:lnSpc>
                <a:spcPts val="4339"/>
              </a:lnSpc>
              <a:buFont typeface="Arial"/>
              <a:buChar char="•"/>
            </a:pPr>
            <a:r>
              <a:rPr lang="en-US" sz="3099" b="1" dirty="0">
                <a:solidFill>
                  <a:srgbClr val="FFFFFF"/>
                </a:solidFill>
                <a:latin typeface="Times New Roman Bold"/>
                <a:ea typeface="Times New Roman Bold"/>
                <a:cs typeface="Times New Roman Bold"/>
                <a:sym typeface="Times New Roman Bold"/>
              </a:rPr>
              <a:t>The analysis of the OLA booking dataset revealed several important business insights. Successful rides accounted for the majority of total bookings, indicating efficient ride management and strong service performance. Among vehicle types, Prime Sedan and E-Bike generated high booking values, showing strong customer preference for these services.</a:t>
            </a:r>
          </a:p>
          <a:p>
            <a:pPr marL="669286" lvl="1" indent="-334643" algn="just">
              <a:lnSpc>
                <a:spcPts val="4339"/>
              </a:lnSpc>
              <a:buFont typeface="Arial"/>
              <a:buChar char="•"/>
            </a:pPr>
            <a:endParaRPr lang="en-US" sz="3099" b="1" dirty="0">
              <a:solidFill>
                <a:srgbClr val="FFFFFF"/>
              </a:solidFill>
              <a:latin typeface="Times New Roman Bold"/>
              <a:ea typeface="Times New Roman Bold"/>
              <a:cs typeface="Times New Roman Bold"/>
              <a:sym typeface="Times New Roman Bold"/>
            </a:endParaRPr>
          </a:p>
          <a:p>
            <a:pPr marL="669286" lvl="1" indent="-334643" algn="just">
              <a:lnSpc>
                <a:spcPts val="4339"/>
              </a:lnSpc>
              <a:buFont typeface="Arial"/>
              <a:buChar char="•"/>
            </a:pPr>
            <a:r>
              <a:rPr lang="en-US" sz="3099" b="1" dirty="0">
                <a:solidFill>
                  <a:srgbClr val="FFFFFF"/>
                </a:solidFill>
                <a:latin typeface="Times New Roman Bold"/>
                <a:ea typeface="Times New Roman Bold"/>
                <a:cs typeface="Times New Roman Bold"/>
                <a:sym typeface="Times New Roman Bold"/>
              </a:rPr>
              <a:t>The analysis also highlighted that driver cancellations were higher than customer cancellations, which may affect customer satisfaction and operational efficiency. Payment method analysis showed that Cash and UPI contributed the highest share of revenue compared to card payments. Additionally, ride demand varied across different days and hours, with higher booking activity observed during weekdays and peak travel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811140" y="266700"/>
            <a:ext cx="6665719"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11.Learning Outcomes</a:t>
            </a:r>
          </a:p>
        </p:txBody>
      </p:sp>
      <p:sp>
        <p:nvSpPr>
          <p:cNvPr id="3" name="TextBox 3"/>
          <p:cNvSpPr txBox="1"/>
          <p:nvPr/>
        </p:nvSpPr>
        <p:spPr>
          <a:xfrm>
            <a:off x="2417139" y="2019300"/>
            <a:ext cx="13453720" cy="7335470"/>
          </a:xfrm>
          <a:prstGeom prst="rect">
            <a:avLst/>
          </a:prstGeom>
        </p:spPr>
        <p:txBody>
          <a:bodyPr lIns="0" tIns="0" rIns="0" bIns="0" rtlCol="0" anchor="t">
            <a:spAutoFit/>
          </a:bodyPr>
          <a:lstStyle/>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Gained understanding of data cleaning and preprocessing techniques using OLA booking data</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Learned Exploratory Data Analysis (EDA) to identify ride demand, cancellations, and revenue trends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Improved data visualization skills using charts, graphs, and interactive reports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Developed interactive dashboards using Power BI for booking and revenue analysis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Analyzed customer behavior, ride patterns, and vehicle-type performance</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Understood how data analytics helps improve operational efficiency and business decision-making in ride-hailing services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9401" y="1033710"/>
            <a:ext cx="4748584"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12.Project Link</a:t>
            </a:r>
          </a:p>
        </p:txBody>
      </p:sp>
      <p:sp>
        <p:nvSpPr>
          <p:cNvPr id="3" name="TextBox 3"/>
          <p:cNvSpPr txBox="1"/>
          <p:nvPr/>
        </p:nvSpPr>
        <p:spPr>
          <a:xfrm>
            <a:off x="1255569" y="2912741"/>
            <a:ext cx="16213012" cy="1204882"/>
          </a:xfrm>
          <a:prstGeom prst="rect">
            <a:avLst/>
          </a:prstGeom>
        </p:spPr>
        <p:txBody>
          <a:bodyPr lIns="0" tIns="0" rIns="0" bIns="0" rtlCol="0" anchor="t">
            <a:spAutoFit/>
          </a:bodyPr>
          <a:lstStyle/>
          <a:p>
            <a:pPr algn="l">
              <a:lnSpc>
                <a:spcPts val="4899"/>
              </a:lnSpc>
            </a:pPr>
            <a:r>
              <a:rPr lang="en-US" sz="3499" b="1" dirty="0">
                <a:gradFill>
                  <a:gsLst>
                    <a:gs pos="0">
                      <a:srgbClr val="B900BC">
                        <a:alpha val="100000"/>
                      </a:srgbClr>
                    </a:gs>
                    <a:gs pos="100000">
                      <a:srgbClr val="009CFF">
                        <a:alpha val="100000"/>
                      </a:srgbClr>
                    </a:gs>
                  </a:gsLst>
                  <a:lin ang="0"/>
                </a:gradFill>
                <a:latin typeface="Times New Roman Bold"/>
                <a:ea typeface="Times New Roman Bold"/>
                <a:cs typeface="Times New Roman Bold"/>
                <a:sym typeface="Times New Roman Bold"/>
              </a:rPr>
              <a:t>1.GitHub (Notebook + Power BI):</a:t>
            </a:r>
          </a:p>
          <a:p>
            <a:pPr>
              <a:lnSpc>
                <a:spcPts val="4899"/>
              </a:lnSpc>
            </a:pPr>
            <a:r>
              <a:rPr lang="en-US" sz="3499" dirty="0">
                <a:solidFill>
                  <a:srgbClr val="FFFFFF"/>
                </a:solidFill>
                <a:latin typeface="Times New Roman"/>
                <a:ea typeface="Times New Roman"/>
                <a:cs typeface="Times New Roman"/>
                <a:sym typeface="Times New Roman"/>
                <a:hlinkClick r:id="rId2"/>
              </a:rPr>
              <a:t>https://github.com/bhuvanrs18/Ola-Project-Bhuvan-R-S</a:t>
            </a:r>
            <a:endParaRPr lang="en-US" sz="3499" dirty="0">
              <a:solidFill>
                <a:srgbClr val="FFFFFF"/>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9400" y="190500"/>
            <a:ext cx="4700681" cy="823559"/>
          </a:xfrm>
          <a:prstGeom prst="rect">
            <a:avLst/>
          </a:prstGeom>
        </p:spPr>
        <p:txBody>
          <a:bodyPr wrap="square" lIns="0" tIns="0" rIns="0" bIns="0" rtlCol="0" anchor="t">
            <a:spAutoFit/>
          </a:bodyPr>
          <a:lstStyle/>
          <a:p>
            <a:pPr algn="ctr">
              <a:lnSpc>
                <a:spcPts val="7000"/>
              </a:lnSpc>
              <a:spcBef>
                <a:spcPct val="0"/>
              </a:spcBef>
            </a:pPr>
            <a:r>
              <a:rPr lang="en-US" sz="5000"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13.Next Steps</a:t>
            </a:r>
          </a:p>
        </p:txBody>
      </p:sp>
      <p:sp>
        <p:nvSpPr>
          <p:cNvPr id="3" name="TextBox 3"/>
          <p:cNvSpPr txBox="1"/>
          <p:nvPr/>
        </p:nvSpPr>
        <p:spPr>
          <a:xfrm>
            <a:off x="914400" y="1257300"/>
            <a:ext cx="16382999" cy="7122143"/>
          </a:xfrm>
          <a:prstGeom prst="rect">
            <a:avLst/>
          </a:prstGeom>
        </p:spPr>
        <p:txBody>
          <a:bodyPr wrap="square" lIns="0" tIns="0" rIns="0" bIns="0" rtlCol="0" anchor="t">
            <a:spAutoFit/>
          </a:bodyPr>
          <a:lstStyle/>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 Integrate real-time booking data for live ride and revenue analysis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Apply predictive analytics to forecast ride demand and peak booking hours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Enhance the dashboard with more interactive filters and advanced visualizations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 Improve customer and driver insights using machine learning models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Develop route and demand optimization features for better operational efficiency</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Implement automated alerts for cancellations, low ratings, and service issues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Expand analysis to include traffic, weather, and location-based ride patterns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229810" y="687387"/>
            <a:ext cx="3828380" cy="666849"/>
          </a:xfrm>
          <a:prstGeom prst="rect">
            <a:avLst/>
          </a:prstGeom>
        </p:spPr>
        <p:txBody>
          <a:bodyPr lIns="0" tIns="0" rIns="0" bIns="0" rtlCol="0" anchor="t">
            <a:spAutoFit/>
          </a:bodyPr>
          <a:lstStyle/>
          <a:p>
            <a:pPr algn="ctr">
              <a:lnSpc>
                <a:spcPts val="5200"/>
              </a:lnSpc>
              <a:spcBef>
                <a:spcPct val="0"/>
              </a:spcBef>
            </a:pPr>
            <a:r>
              <a:rPr lang="en-US" sz="5000"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14.Conclusion</a:t>
            </a:r>
          </a:p>
        </p:txBody>
      </p:sp>
      <p:sp>
        <p:nvSpPr>
          <p:cNvPr id="3" name="TextBox 3"/>
          <p:cNvSpPr txBox="1"/>
          <p:nvPr/>
        </p:nvSpPr>
        <p:spPr>
          <a:xfrm>
            <a:off x="2231873" y="2259637"/>
            <a:ext cx="14308129" cy="7591822"/>
          </a:xfrm>
          <a:prstGeom prst="rect">
            <a:avLst/>
          </a:prstGeom>
        </p:spPr>
        <p:txBody>
          <a:bodyPr lIns="0" tIns="0" rIns="0" bIns="0" rtlCol="0" anchor="t">
            <a:spAutoFit/>
          </a:bodyPr>
          <a:lstStyle/>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This project successfully demonstrates how raw OLA booking data can be transformed into meaningful insights using data analysis and visualization techniques. By analyzing ride bookings, revenue, cancellations, customer behavior, and vehicle performance, important trends and operational patterns were identified.</a:t>
            </a:r>
          </a:p>
          <a:p>
            <a:pPr marL="760367" lvl="1" indent="-380184" algn="just">
              <a:lnSpc>
                <a:spcPts val="3662"/>
              </a:lnSpc>
              <a:buFont typeface="Arial"/>
              <a:buChar char="•"/>
            </a:pPr>
            <a:endParaRPr lang="en-US" sz="3521" dirty="0">
              <a:solidFill>
                <a:srgbClr val="FFFFFF"/>
              </a:solidFill>
              <a:latin typeface="Times New Roman"/>
              <a:ea typeface="Times New Roman"/>
              <a:cs typeface="Times New Roman"/>
              <a:sym typeface="Times New Roman"/>
            </a:endParaRPr>
          </a:p>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The dashboards provide an interactive and clear view of booking performance, ride demand, cancellation reasons, payment methods, and customer satisfaction. These insights help in understanding business trends, identifying operational challenges, and supporting better decision-making. Overall, the project highlights the importance of data analytics in improving service efficiency and customer experience in ride-hailing platforms.</a:t>
            </a:r>
          </a:p>
          <a:p>
            <a:pPr marL="760367" lvl="1" indent="-380184" algn="just">
              <a:lnSpc>
                <a:spcPts val="3662"/>
              </a:lnSpc>
              <a:buFont typeface="Arial"/>
              <a:buChar char="•"/>
            </a:pPr>
            <a:endParaRPr lang="en-US" sz="3521" dirty="0">
              <a:solidFill>
                <a:srgbClr val="FFFFFF"/>
              </a:solidFill>
              <a:latin typeface="Times New Roman"/>
              <a:ea typeface="Times New Roman"/>
              <a:cs typeface="Times New Roman"/>
              <a:sym typeface="Times New Roman"/>
            </a:endParaRPr>
          </a:p>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This project shows how data analytics can help ride-hailing businesses make smarter and more efficient decisions.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sp>
        <p:nvSpPr>
          <p:cNvPr id="3" name="Freeform 3"/>
          <p:cNvSpPr/>
          <p:nvPr/>
        </p:nvSpPr>
        <p:spPr>
          <a:xfrm rot="1184083">
            <a:off x="6266232" y="1272574"/>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3">
              <a:alphaModFix amt="19999"/>
            </a:blip>
            <a:stretch>
              <a:fillRect/>
            </a:stretch>
          </a:blipFill>
        </p:spPr>
      </p:sp>
      <p:sp>
        <p:nvSpPr>
          <p:cNvPr id="4" name="TextBox 4"/>
          <p:cNvSpPr txBox="1"/>
          <p:nvPr/>
        </p:nvSpPr>
        <p:spPr>
          <a:xfrm>
            <a:off x="5588074" y="4143493"/>
            <a:ext cx="8166308" cy="1505122"/>
          </a:xfrm>
          <a:prstGeom prst="rect">
            <a:avLst/>
          </a:prstGeom>
        </p:spPr>
        <p:txBody>
          <a:bodyPr lIns="0" tIns="0" rIns="0" bIns="0" rtlCol="0" anchor="t">
            <a:spAutoFit/>
          </a:bodyPr>
          <a:lstStyle/>
          <a:p>
            <a:pPr algn="l">
              <a:lnSpc>
                <a:spcPts val="10732"/>
              </a:lnSpc>
            </a:pPr>
            <a:r>
              <a:rPr lang="en-US" sz="10319" b="1">
                <a:solidFill>
                  <a:srgbClr val="FFFFFF"/>
                </a:solidFill>
                <a:latin typeface="Poppins Bold"/>
                <a:ea typeface="Poppins Bold"/>
                <a:cs typeface="Poppins Bold"/>
                <a:sym typeface="Poppins Bold"/>
              </a:rPr>
              <a:t>Thank You</a:t>
            </a:r>
          </a:p>
        </p:txBody>
      </p:sp>
      <p:grpSp>
        <p:nvGrpSpPr>
          <p:cNvPr id="5" name="Group 5"/>
          <p:cNvGrpSpPr/>
          <p:nvPr/>
        </p:nvGrpSpPr>
        <p:grpSpPr>
          <a:xfrm>
            <a:off x="1564869" y="2041650"/>
            <a:ext cx="2632148" cy="2632148"/>
            <a:chOff x="0" y="0"/>
            <a:chExt cx="1652976" cy="1652976"/>
          </a:xfrm>
        </p:grpSpPr>
        <p:sp>
          <p:nvSpPr>
            <p:cNvPr id="6" name="Freeform 6"/>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id="7" name="TextBox 7"/>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06770" y="299924"/>
            <a:ext cx="2316198" cy="2325603"/>
            <a:chOff x="0" y="0"/>
            <a:chExt cx="404756" cy="406400"/>
          </a:xfrm>
        </p:grpSpPr>
        <p:sp>
          <p:nvSpPr>
            <p:cNvPr id="9" name="Freeform 9"/>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0" name="Group 10"/>
          <p:cNvGrpSpPr/>
          <p:nvPr/>
        </p:nvGrpSpPr>
        <p:grpSpPr>
          <a:xfrm>
            <a:off x="2722967" y="3510996"/>
            <a:ext cx="2316198" cy="2325603"/>
            <a:chOff x="0" y="0"/>
            <a:chExt cx="404756" cy="406400"/>
          </a:xfrm>
        </p:grpSpPr>
        <p:sp>
          <p:nvSpPr>
            <p:cNvPr id="11" name="Freeform 11"/>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2" name="Group 12"/>
          <p:cNvGrpSpPr/>
          <p:nvPr/>
        </p:nvGrpSpPr>
        <p:grpSpPr>
          <a:xfrm>
            <a:off x="15561015" y="299924"/>
            <a:ext cx="2316198" cy="2325603"/>
            <a:chOff x="0" y="0"/>
            <a:chExt cx="404756" cy="406400"/>
          </a:xfrm>
        </p:grpSpPr>
        <p:sp>
          <p:nvSpPr>
            <p:cNvPr id="13" name="Freeform 13"/>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4" name="Group 14"/>
          <p:cNvGrpSpPr/>
          <p:nvPr/>
        </p:nvGrpSpPr>
        <p:grpSpPr>
          <a:xfrm>
            <a:off x="14011557" y="1462726"/>
            <a:ext cx="2632148" cy="2632148"/>
            <a:chOff x="0" y="0"/>
            <a:chExt cx="1652976" cy="1652976"/>
          </a:xfrm>
        </p:grpSpPr>
        <p:sp>
          <p:nvSpPr>
            <p:cNvPr id="15" name="Freeform 15"/>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id="16" name="TextBox 16"/>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3246440" y="3323012"/>
            <a:ext cx="2316198" cy="2325603"/>
            <a:chOff x="0" y="0"/>
            <a:chExt cx="404756" cy="406400"/>
          </a:xfrm>
        </p:grpSpPr>
        <p:sp>
          <p:nvSpPr>
            <p:cNvPr id="18" name="Freeform 18"/>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1026</Words>
  <Application>Microsoft Office PowerPoint</Application>
  <PresentationFormat>Custom</PresentationFormat>
  <Paragraphs>112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Times New Roman Bold</vt:lpstr>
      <vt:lpstr>Poppins Bold</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Insights Presentation</dc:title>
  <dc:creator>Suhail. D</dc:creator>
  <cp:lastModifiedBy>Bhuvan R.S</cp:lastModifiedBy>
  <cp:revision>5</cp:revision>
  <dcterms:created xsi:type="dcterms:W3CDTF">2006-08-16T00:00:00Z</dcterms:created>
  <dcterms:modified xsi:type="dcterms:W3CDTF">2026-05-07T10:45:03Z</dcterms:modified>
  <dc:identifier>DAHIxepJ3Z4</dc:identifier>
</cp:coreProperties>
</file>